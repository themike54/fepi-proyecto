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0"/>
            <a:ext cx="1216152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37160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Técnico-Administrativa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4937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Contratos de Obra Pública — Maquetas selectas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5486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HU-00  </a:t>
            </a:r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por 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HU-01  </a:t>
            </a:r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 contratos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HU-08  </a:t>
            </a:r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 de bitácora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HU-02  </a:t>
            </a:r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fianzas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HU-09  </a:t>
            </a:r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Emisión de notas tipificadas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B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SIGECOP · Mayo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91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91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Maquetas SIGECOP · Mayo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HU-00 · Inicio de sesión por rol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8813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8813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9669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usuario del sistema, deseo autenticarme con usuario y contraseña, sin indicar mi rol explícitamente, para acceder a las funciones que el sistema reconoce que me corresponden, a fin de proteger la información del contrato.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11430000" cy="4114800"/>
          </a:xfrm>
          <a:prstGeom prst="rect">
            <a:avLst/>
          </a:prstGeom>
          <a:solidFill>
            <a:srgbClr val="EFF6FB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51960" y="20116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06440" y="22860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F4E7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064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519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51960" y="3291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Contratos de Obra Pública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26280" y="36118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26280" y="37947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99432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nombre.apellido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40690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26280" y="42519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99432" y="4251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4617720"/>
            <a:ext cx="3108960" cy="365760"/>
          </a:xfrm>
          <a:prstGeom prst="roundRect">
            <a:avLst>
              <a:gd name="adj" fmla="val 10000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2628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sesión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943600"/>
            <a:ext cx="275463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594360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5943600"/>
            <a:ext cx="25717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CA-1: El sistema valida usuario y contraseña, bloquea el acceso cuando son inválidos y no permite continuar si los campos usuario o contraseña están vacíos.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7550" y="5943600"/>
            <a:ext cx="275463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257550" y="594360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394710" y="5943600"/>
            <a:ext cx="25717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CA-2: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pantallas mostradas tras login corresponden únicamente al rol del usuario.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9340" y="5943600"/>
            <a:ext cx="275463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149340" y="594360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86500" y="5943600"/>
            <a:ext cx="25717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CA-3: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registrada queda asociada al nombre y fecha/hora del usuario.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91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Maquetas SIGECOP · Mayo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HU-01 · Alta de contratos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8813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8CBAD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8CBAD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residente, deseo dar de alta un contrato capturando datos generales, catálogo, programa, jurídicos, garantías, penalizaciones, plan de amortización y PDF firmado, a fin de tener el soporte documental completo en línea.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11430000" cy="3200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  ›  Contratos  ›  Alta de contrato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525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Hernández  |  Residente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11680"/>
            <a:ext cx="114300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04288"/>
            <a:ext cx="184404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011680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Datos generales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92680" y="2011680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Catálogo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36720" y="2011680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Programa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011680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Jurídicos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24800" y="2011680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Garantías y amort.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68840" y="2011680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PDF firmado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generales del contrato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292608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DEL CONTRATO *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5349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089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C-2026-0042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92608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CONTRATO *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63640" y="3108960"/>
            <a:ext cx="5349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1089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pública sobre precios unitarios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47472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DEL CONTRATO *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0881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6576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edificio administrativo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02336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CONTRATISTA *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4206240"/>
            <a:ext cx="5349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206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Constructora XYZ S.A. de C.V.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02336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*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4206240"/>
            <a:ext cx="5349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4206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Obras Públicas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57200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CONTRATADO *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" y="4754880"/>
            <a:ext cx="5349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47548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$ 12,450,000.00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457200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DE EJECUCIÓN *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4754880"/>
            <a:ext cx="5349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47548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días naturales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5120640"/>
            <a:ext cx="10881360" cy="274320"/>
          </a:xfrm>
          <a:prstGeom prst="rect">
            <a:avLst/>
          </a:prstGeom>
          <a:solidFill>
            <a:srgbClr val="FEF9E7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5120640"/>
            <a:ext cx="45720" cy="27432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120640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obligatorios marcados con *. La tab 5 (Garantías, penalizaciones y amortización) registra las pólizas de fianza (art. 48 LOPSRM), las penalizaciones aplicables (art. 46 Bis LOPSRM) y el plan de amortización del anticipo (art. 50 LOPSRM).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55321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Cancelar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641080" y="55321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41080" y="5532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borrador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104120" y="553212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04120" y="5532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Catálogo →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" y="603504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603504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59" name="Text 57"/>
          <p:cNvSpPr/>
          <p:nvPr/>
        </p:nvSpPr>
        <p:spPr>
          <a:xfrm>
            <a:off x="502920" y="603504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CA-1: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un contrato con folio único que contiene catálogo de conceptos, programa de obra, elementos jurídicos, garantías, penalizaciones, plan de amortización del anticipo y PDF firmado.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21480" y="603504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21480" y="603504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62" name="Text 60"/>
          <p:cNvSpPr/>
          <p:nvPr/>
        </p:nvSpPr>
        <p:spPr>
          <a:xfrm>
            <a:off x="4358640" y="603504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CA-2: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valida que los campos obligatorios estén llenos y el folio sea único antes de guardar.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77200" y="603504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7200" y="603504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65" name="Text 63"/>
          <p:cNvSpPr/>
          <p:nvPr/>
        </p:nvSpPr>
        <p:spPr>
          <a:xfrm>
            <a:off x="8214360" y="603504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CA-3: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un PDF firmado del contrato ligado al expediente, consultable por todos los actores autorizados.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91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Maquetas SIGECOP · Mayo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HU-08 · Apertura formal de la bitácora del contrato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8813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residente, deseo abrir la bitácora ligando a las tres partes con sus firmantes autorizados, a fin de habilitar el registro formal conforme al art. 46 último párrafo LOPSRM y arts. 122-123 RLOPSRM.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11430000" cy="3200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  ›  Bitácora  ›  Apertura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11430000" cy="411480"/>
          </a:xfrm>
          <a:prstGeom prst="rect">
            <a:avLst/>
          </a:prstGeom>
          <a:solidFill>
            <a:srgbClr val="DD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48840"/>
            <a:ext cx="4572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1488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C-2026-0042 · Construcción de edificio administrativo · Constructora XYZ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Designación de firmantes autorizados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11430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5468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Contratante (Dependencia)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789920" y="315468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Designado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3474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Firmante autorizado: </a:t>
            </a:r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María Pérez García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657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Directora de Obras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11430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7160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Supervisión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789920" y="411480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/>
        </p:spPr>
      </p:sp>
      <p:sp>
        <p:nvSpPr>
          <p:cNvPr id="34" name="Text 32"/>
          <p:cNvSpPr/>
          <p:nvPr/>
        </p:nvSpPr>
        <p:spPr>
          <a:xfrm>
            <a:off x="1078992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Designado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Firmante autorizado: </a:t>
            </a:r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Roberto López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Supervisora Especializada S.C.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937760"/>
            <a:ext cx="11430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07492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074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Contratista (Superintendente)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789920" y="507492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/>
        </p:spPr>
      </p:sp>
      <p:sp>
        <p:nvSpPr>
          <p:cNvPr id="42" name="Text 40"/>
          <p:cNvSpPr/>
          <p:nvPr/>
        </p:nvSpPr>
        <p:spPr>
          <a:xfrm>
            <a:off x="10789920" y="5074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Designado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" y="5394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Firmante autorizado: </a:t>
            </a:r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Arq. Carlos Mendoza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5577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Cédula 8475612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5943600"/>
            <a:ext cx="114300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5943600"/>
            <a:ext cx="45720" cy="32004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Fundamento legal: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 último párrafo LOPSRM, art. 122 RLOPSRM (régimen general) y art. 123 RLOPSRM (apertura, contenido y firmas). Una vez abierta, queda como evento inalterable.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6126480"/>
            <a:ext cx="564642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612648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6126480"/>
            <a:ext cx="54635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CA-1: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una bitácora única por contrato con las tres partes ligadas y sus firmantes autorizados.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49340" y="6126480"/>
            <a:ext cx="564642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49340" y="612648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53" name="Text 51"/>
          <p:cNvSpPr/>
          <p:nvPr/>
        </p:nvSpPr>
        <p:spPr>
          <a:xfrm>
            <a:off x="6286500" y="6126480"/>
            <a:ext cx="54635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CA-2: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y hora de apertura queda registrada como evento formal inalterable.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91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Maquetas SIGECOP · Mayo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HU-02 · Registro de fianzas y garantías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8813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EF9E7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dependencia, deseo subir las pólizas de fianza con sus metadatos (vigencia, afianzadora, monto), a fin de contar con el respaldo documental y ser notificado al vencer.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11430000" cy="3200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  ›  Contratos  ›  C-2026-0042  ›  Fianzas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Pólizas de fianza del contrato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92640" y="2148840"/>
            <a:ext cx="2103120" cy="320040"/>
          </a:xfrm>
          <a:prstGeom prst="roundRect">
            <a:avLst>
              <a:gd name="adj" fmla="val 11429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Registrar nueva póliza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1143000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2560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de póliza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560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Afianzadora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2560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2560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Vigencia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0" y="2560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852928"/>
            <a:ext cx="11430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944368"/>
            <a:ext cx="1143000" cy="2286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28529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F-2026-08745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Afianzadora Sofimex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28529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$ 1,245,000.00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01/06/2026 - 28/11/2026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0" y="2944368"/>
            <a:ext cx="1920240" cy="2286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0" y="2944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47120" y="28986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5760" y="3264408"/>
            <a:ext cx="11430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355848"/>
            <a:ext cx="1143000" cy="2286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3558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37360" y="32644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F-2026-08746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3264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Afianzadora Sofimex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3264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$ 3,735,000.00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9440" y="3264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01/06/2026 - 28/08/2026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961120" y="3355848"/>
            <a:ext cx="1920240" cy="228600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/>
        </p:spPr>
      </p:sp>
      <p:sp>
        <p:nvSpPr>
          <p:cNvPr id="46" name="Text 44"/>
          <p:cNvSpPr/>
          <p:nvPr/>
        </p:nvSpPr>
        <p:spPr>
          <a:xfrm>
            <a:off x="8961120" y="3355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 pronto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247120" y="33101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75888"/>
            <a:ext cx="11430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3767328"/>
            <a:ext cx="1143000" cy="2286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37673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Vicios ocultos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37360" y="36758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registrar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8328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36758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4944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961120" y="3767328"/>
            <a:ext cx="1920240" cy="228600"/>
          </a:xfrm>
          <a:prstGeom prst="roundRect">
            <a:avLst>
              <a:gd name="adj" fmla="val 12000"/>
            </a:avLst>
          </a:prstGeom>
          <a:solidFill>
            <a:srgbClr val="E5E5E5"/>
          </a:solidFill>
          <a:ln/>
        </p:spPr>
      </p:sp>
      <p:sp>
        <p:nvSpPr>
          <p:cNvPr id="56" name="Text 54"/>
          <p:cNvSpPr/>
          <p:nvPr/>
        </p:nvSpPr>
        <p:spPr>
          <a:xfrm>
            <a:off x="8961120" y="37673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247120" y="37216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65760" y="4270248"/>
            <a:ext cx="11430000" cy="1280160"/>
          </a:xfrm>
          <a:prstGeom prst="rect">
            <a:avLst/>
          </a:prstGeom>
          <a:solidFill>
            <a:srgbClr val="EFF6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361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Alertas de vencimiento configuradas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4681728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727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8640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días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548640" y="5230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vencer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297680" y="4681728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0" y="4727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97680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días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97680" y="5230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vencer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046720" y="4681728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46720" y="4727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046720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días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8046720" y="5230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vencer (urgente)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65760" y="612648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5760" y="612648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74" name="Text 72"/>
          <p:cNvSpPr/>
          <p:nvPr/>
        </p:nvSpPr>
        <p:spPr>
          <a:xfrm>
            <a:off x="502920" y="612648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CA-1: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póliza queda ligada al contrato con afianzadora, vigencia y monto registrados.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221480" y="612648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21480" y="612648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77" name="Text 75"/>
          <p:cNvSpPr/>
          <p:nvPr/>
        </p:nvSpPr>
        <p:spPr>
          <a:xfrm>
            <a:off x="4358640" y="612648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CA-2: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emite alerta cuando faltan N días configurables para el vencimiento.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077200" y="612648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77200" y="612648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80" name="Text 78"/>
          <p:cNvSpPr/>
          <p:nvPr/>
        </p:nvSpPr>
        <p:spPr>
          <a:xfrm>
            <a:off x="8214360" y="612648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CA-3: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póliza registrada puede consultarse en PDF desde el listado de fianzas.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91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Maquetas SIGECOP · Mayo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HU-09 · Emisión y respuesta de notas tipificadas con firma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8813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8CBAD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8CBAD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residente, supervisión o contratista (según rol autorizado), deseo emitir notas tipificadas según mi rol con folio automático y firma electrónica, a fin de documentar formalmente los eventos conforme al art. 125 RLOPSRM de manera trazable e inmutable.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11430000" cy="3200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SIGECOP  ›  Bitácora  ›  C-2026-0042  ›  Emitir nota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recientes del contrato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3200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87752"/>
            <a:ext cx="1371600" cy="2286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87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N-042 · Instrucción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587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10:23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8254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aclaración sobre eje 7-B...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008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Por: Residencia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3200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64992"/>
            <a:ext cx="1371600" cy="228600"/>
          </a:xfrm>
          <a:prstGeom prst="roundRect">
            <a:avLst>
              <a:gd name="adj" fmla="val 12000"/>
            </a:avLst>
          </a:prstGeom>
          <a:solidFill>
            <a:srgbClr val="FEF9E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N-041 · Acuerdo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68880" y="3364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Ayer 16:45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36027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Acuerdo sobre modificación menor del...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7856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Por: Las tres partes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3200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42232"/>
            <a:ext cx="1371600" cy="2286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42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N-040 · Confirm.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68880" y="4142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14/05 11:20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43799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 de trabajos del eje 6...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562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Por: Supervisión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40480" y="2148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Emisión de nueva nota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251460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NOTA (según rol Residente)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0" y="2697480"/>
            <a:ext cx="7955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13632" y="26974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Instrucción (al contratista)  ▾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0" y="301752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aparecen los tipos que corresponden a tu rol (art. 125 RLOPSRM).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40480" y="329184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ASUNTO *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0" y="3474720"/>
            <a:ext cx="7955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3632" y="3474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aclaración sobre cimentación del eje 8-A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0" y="37947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NOTA *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0" y="3977640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requiere al contratista aclarar el procedimiento de cimentación para el eje 8-A, considerando los hallazgos del estudio de mecánica de suelos del 12/05/2026. Plazo de respuesta: 3 días hábiles.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0" y="475488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VINCULAR A NOTA PREVIA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40480" y="4937760"/>
            <a:ext cx="3886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3632" y="4937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 vínculo —  ▾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09560" y="475488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ASIGNADO (automático)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909560" y="4937760"/>
            <a:ext cx="38862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82712" y="4937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N-043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40480" y="5257800"/>
            <a:ext cx="7955280" cy="320040"/>
          </a:xfrm>
          <a:prstGeom prst="rect">
            <a:avLst/>
          </a:prstGeom>
          <a:solidFill>
            <a:srgbClr val="FEF9E7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0" y="5257800"/>
            <a:ext cx="45720" cy="32004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55" name="Text 53"/>
          <p:cNvSpPr/>
          <p:nvPr/>
        </p:nvSpPr>
        <p:spPr>
          <a:xfrm>
            <a:off x="3977640" y="5257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pPr indent="0" marL="0">
              <a:buNone/>
            </a:pPr>
            <a:r>
              <a:rPr lang="en-US" sz="80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firmada, esta nota será inmutable. Si necesitas corregirla, deberás emitir una nueva nota vinculada.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966960" y="566928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6696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Firmar y emitir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" y="603504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603504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603504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CA-1: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aparecen los tipos de nota que corresponden al rol del usuario.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21480" y="603504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21480" y="603504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63" name="Text 61"/>
          <p:cNvSpPr/>
          <p:nvPr/>
        </p:nvSpPr>
        <p:spPr>
          <a:xfrm>
            <a:off x="4358640" y="603504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CA-2: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nota firmada queda inmutable y solo puede corregirse emitiendo una nueva nota vinculada.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77200" y="6035040"/>
            <a:ext cx="3718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E5E2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77200" y="6035040"/>
            <a:ext cx="45720" cy="731520"/>
          </a:xfrm>
          <a:prstGeom prst="rect">
            <a:avLst/>
          </a:prstGeom>
          <a:solidFill>
            <a:srgbClr val="0E5E2E"/>
          </a:solidFill>
          <a:ln/>
        </p:spPr>
      </p:sp>
      <p:sp>
        <p:nvSpPr>
          <p:cNvPr id="66" name="Text 64"/>
          <p:cNvSpPr/>
          <p:nvPr/>
        </p:nvSpPr>
        <p:spPr>
          <a:xfrm>
            <a:off x="8214360" y="6035040"/>
            <a:ext cx="353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5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CA-3: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nota queda registrada con folio, fecha, firmante y vínculo opcional a nota previa.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SIGECOP - Maquetas Sprint 1 y 2</dc:title>
  <dc:subject>Maquetas visuales de las primeras historias de usuario</dc:subject>
  <dc:creator>Equipo SIGECOP</dc:creator>
  <cp:lastModifiedBy>Equipo SIGECOP</cp:lastModifiedBy>
  <cp:revision>1</cp:revision>
  <dcterms:created xsi:type="dcterms:W3CDTF">2026-05-19T22:23:05Z</dcterms:created>
  <dcterms:modified xsi:type="dcterms:W3CDTF">2026-05-19T22:23:05Z</dcterms:modified>
</cp:coreProperties>
</file>